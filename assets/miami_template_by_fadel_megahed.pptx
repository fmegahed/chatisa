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14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484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Updated template: title slide uses a full red background with bold white text and no 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3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9601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OR PRESENTATION TITLE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8680" y="21031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8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Subtitle or module name</a:t>
            </a:r>
            <a:endParaRPr lang="en-US" sz="2880" dirty="0"/>
          </a:p>
        </p:txBody>
      </p:sp>
      <p:sp>
        <p:nvSpPr>
          <p:cNvPr id="4" name="Shape 2"/>
          <p:cNvSpPr/>
          <p:nvPr/>
        </p:nvSpPr>
        <p:spPr>
          <a:xfrm>
            <a:off x="868680" y="2880360"/>
            <a:ext cx="3749040" cy="0"/>
          </a:xfrm>
          <a:prstGeom prst="line">
            <a:avLst/>
          </a:prstGeom>
          <a:noFill/>
          <a:ln w="1587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182112"/>
            <a:ext cx="6583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8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Presenter Name, Credentials</a:t>
            </a:r>
            <a:endParaRPr lang="en-US" sz="19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8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 or Department</a:t>
            </a:r>
            <a:endParaRPr lang="en-US" sz="19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8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Miami University</a:t>
            </a:r>
            <a:endParaRPr lang="en-US" sz="1980" dirty="0"/>
          </a:p>
          <a:p>
            <a:pPr marL="0" indent="0">
              <a:lnSpc>
                <a:spcPct val="105000"/>
              </a:lnSpc>
              <a:buNone/>
            </a:pPr>
            <a:endParaRPr lang="en-US" sz="198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8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Term or Date</a:t>
            </a:r>
            <a:endParaRPr lang="en-US" sz="1980" dirty="0"/>
          </a:p>
        </p:txBody>
      </p:sp>
      <p:sp>
        <p:nvSpPr>
          <p:cNvPr id="6" name="Text 4"/>
          <p:cNvSpPr/>
          <p:nvPr/>
        </p:nvSpPr>
        <p:spPr>
          <a:xfrm>
            <a:off x="868680" y="614476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i="1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 slide layout: full red background with bold white text.</a:t>
            </a:r>
            <a:endParaRPr lang="en-US" sz="11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xaringan_ppt_work/beveled_m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610" y="146304"/>
            <a:ext cx="701612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56032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40" b="1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Learning Objectives for Today’s Class</a:t>
            </a:r>
            <a:endParaRPr lang="en-US" sz="3240" dirty="0"/>
          </a:p>
        </p:txBody>
      </p:sp>
      <p:sp>
        <p:nvSpPr>
          <p:cNvPr id="4" name="Shape 1"/>
          <p:cNvSpPr/>
          <p:nvPr/>
        </p:nvSpPr>
        <p:spPr>
          <a:xfrm>
            <a:off x="566928" y="859536"/>
            <a:ext cx="1101852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777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68680" y="1234440"/>
            <a:ext cx="10241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79400" indent="-279400">
              <a:buSzPct val="100000"/>
              <a:buChar char="•"/>
            </a:pPr>
            <a:r>
              <a:rPr lang="en-US" sz="2640" b="1" dirty="0">
                <a:solidFill>
                  <a:srgbClr val="C3142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Describe the analytics journey</a:t>
            </a:r>
            <a:r>
              <a:rPr lang="en-US" sz="264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where BI fits within it.</a:t>
            </a:r>
            <a:endParaRPr lang="en-US" sz="2640" dirty="0"/>
          </a:p>
          <a:p>
            <a:pPr marL="0" indent="0">
              <a:buNone/>
            </a:pPr>
            <a:r>
              <a:rPr lang="en-US" sz="2640" b="1" dirty="0">
                <a:solidFill>
                  <a:srgbClr val="C3142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 a BI dashboard</a:t>
            </a:r>
            <a:r>
              <a:rPr lang="en-US" sz="264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identify the questions it answers.</a:t>
            </a:r>
            <a:endParaRPr lang="en-US" sz="2640" dirty="0"/>
          </a:p>
          <a:p>
            <a:pPr marL="0" indent="0">
              <a:buNone/>
            </a:pPr>
            <a:r>
              <a:rPr lang="en-US" sz="2640" b="1" dirty="0">
                <a:solidFill>
                  <a:srgbClr val="C3142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data visualization</a:t>
            </a:r>
            <a:r>
              <a:rPr lang="en-US" sz="264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describe its main goals.</a:t>
            </a:r>
            <a:endParaRPr lang="en-US" sz="2640" dirty="0"/>
          </a:p>
          <a:p>
            <a:pPr marL="0" indent="0">
              <a:buNone/>
            </a:pPr>
            <a:r>
              <a:rPr lang="en-US" sz="2640" b="1" dirty="0">
                <a:solidFill>
                  <a:srgbClr val="C3142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the unit of analysis</a:t>
            </a:r>
            <a:r>
              <a:rPr lang="en-US" sz="264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a dataset.</a:t>
            </a:r>
            <a:endParaRPr lang="en-US" sz="26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3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2423160"/>
            <a:ext cx="10104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80" b="1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ANALYTICS JOURNEY</a:t>
            </a:r>
            <a:endParaRPr lang="en-US" sz="4080" dirty="0"/>
          </a:p>
        </p:txBody>
      </p:sp>
      <p:sp>
        <p:nvSpPr>
          <p:cNvPr id="3" name="Shape 1"/>
          <p:cNvSpPr/>
          <p:nvPr/>
        </p:nvSpPr>
        <p:spPr>
          <a:xfrm>
            <a:off x="3977640" y="3401568"/>
            <a:ext cx="4251960" cy="0"/>
          </a:xfrm>
          <a:prstGeom prst="line">
            <a:avLst/>
          </a:prstGeom>
          <a:noFill/>
          <a:ln w="1905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3621024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>
                    <a:alpha val="9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INVERSE / SECTION-DIVIDER LAYOUT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xaringan_ppt_work/beveled_m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610" y="146304"/>
            <a:ext cx="701612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56032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40" b="1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Two-Column Comparison Layout</a:t>
            </a:r>
            <a:endParaRPr lang="en-US" sz="3240" dirty="0"/>
          </a:p>
        </p:txBody>
      </p:sp>
      <p:sp>
        <p:nvSpPr>
          <p:cNvPr id="4" name="Shape 1"/>
          <p:cNvSpPr/>
          <p:nvPr/>
        </p:nvSpPr>
        <p:spPr>
          <a:xfrm>
            <a:off x="566928" y="859536"/>
            <a:ext cx="1101852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777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8368" y="105156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4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for contrasting concepts, options, or examples.</a:t>
            </a:r>
            <a:endParaRPr lang="en-US" sz="2040" dirty="0"/>
          </a:p>
        </p:txBody>
      </p:sp>
      <p:sp>
        <p:nvSpPr>
          <p:cNvPr id="7" name="Shape 4"/>
          <p:cNvSpPr/>
          <p:nvPr/>
        </p:nvSpPr>
        <p:spPr>
          <a:xfrm>
            <a:off x="685800" y="1572768"/>
            <a:ext cx="5230368" cy="3977640"/>
          </a:xfrm>
          <a:prstGeom prst="roundRect">
            <a:avLst>
              <a:gd name="adj" fmla="val 183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737360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60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LEFT COLUMN</a:t>
            </a:r>
            <a:endParaRPr lang="en-US" sz="2160" dirty="0"/>
          </a:p>
        </p:txBody>
      </p:sp>
      <p:sp>
        <p:nvSpPr>
          <p:cNvPr id="9" name="Text 6"/>
          <p:cNvSpPr/>
          <p:nvPr/>
        </p:nvSpPr>
        <p:spPr>
          <a:xfrm>
            <a:off x="886968" y="2139696"/>
            <a:ext cx="4828032" cy="3227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Primary concept or category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Supporting detail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Example or evidence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Use Miami red for emphasis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63640" y="1572768"/>
            <a:ext cx="5230368" cy="3977640"/>
          </a:xfrm>
          <a:prstGeom prst="roundRect">
            <a:avLst>
              <a:gd name="adj" fmla="val 1839"/>
            </a:avLst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4808" y="1737360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60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RIGHT COLUMN</a:t>
            </a:r>
            <a:endParaRPr lang="en-US" sz="2160" dirty="0"/>
          </a:p>
        </p:txBody>
      </p:sp>
      <p:sp>
        <p:nvSpPr>
          <p:cNvPr id="12" name="Text 9"/>
          <p:cNvSpPr/>
          <p:nvPr/>
        </p:nvSpPr>
        <p:spPr>
          <a:xfrm>
            <a:off x="6464808" y="2139696"/>
            <a:ext cx="4828032" cy="3227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Contrasting concept or category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Supporting detail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Example or evidence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Use teal sparingly for links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xaringan_ppt_work/beveled_m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610" y="146304"/>
            <a:ext cx="701612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56032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40" b="1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Sidebar + Main Content Layout</a:t>
            </a:r>
            <a:endParaRPr lang="en-US" sz="3240" dirty="0"/>
          </a:p>
        </p:txBody>
      </p:sp>
      <p:sp>
        <p:nvSpPr>
          <p:cNvPr id="4" name="Shape 1"/>
          <p:cNvSpPr/>
          <p:nvPr/>
        </p:nvSpPr>
        <p:spPr>
          <a:xfrm>
            <a:off x="566928" y="859536"/>
            <a:ext cx="1101852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777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58368" y="1170432"/>
            <a:ext cx="2578608" cy="498348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1444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80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CONTEXT</a:t>
            </a:r>
            <a:endParaRPr lang="en-US" sz="2280" dirty="0"/>
          </a:p>
        </p:txBody>
      </p:sp>
      <p:sp>
        <p:nvSpPr>
          <p:cNvPr id="8" name="Text 5"/>
          <p:cNvSpPr/>
          <p:nvPr/>
        </p:nvSpPr>
        <p:spPr>
          <a:xfrm>
            <a:off x="896112" y="1965960"/>
            <a:ext cx="19385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20" dirty="0">
                <a:solidFill>
                  <a:srgbClr val="7777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1</a:t>
            </a:r>
            <a:endParaRPr lang="en-US" sz="1920" dirty="0"/>
          </a:p>
          <a:p>
            <a:pPr marL="0" indent="0">
              <a:buNone/>
            </a:pPr>
            <a:r>
              <a:rPr lang="en-US" sz="1920" dirty="0">
                <a:solidFill>
                  <a:srgbClr val="7777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2</a:t>
            </a:r>
            <a:endParaRPr lang="en-US" sz="1920" dirty="0"/>
          </a:p>
          <a:p>
            <a:pPr marL="0" indent="0">
              <a:buNone/>
            </a:pPr>
            <a:r>
              <a:rPr lang="en-US" sz="1920" dirty="0">
                <a:solidFill>
                  <a:srgbClr val="7777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3</a:t>
            </a:r>
            <a:endParaRPr lang="en-US" sz="1920" dirty="0"/>
          </a:p>
          <a:p>
            <a:pPr marL="0" indent="0">
              <a:buNone/>
            </a:pPr>
            <a:r>
              <a:rPr lang="en-US" sz="1920" dirty="0">
                <a:solidFill>
                  <a:srgbClr val="7777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4</a:t>
            </a:r>
            <a:endParaRPr lang="en-US" sz="1920" dirty="0"/>
          </a:p>
        </p:txBody>
      </p:sp>
      <p:sp>
        <p:nvSpPr>
          <p:cNvPr id="9" name="Text 6"/>
          <p:cNvSpPr/>
          <p:nvPr/>
        </p:nvSpPr>
        <p:spPr>
          <a:xfrm>
            <a:off x="3566160" y="12984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60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MAIN CONTENT</a:t>
            </a:r>
            <a:endParaRPr lang="en-US" sz="2760" dirty="0"/>
          </a:p>
        </p:txBody>
      </p:sp>
      <p:sp>
        <p:nvSpPr>
          <p:cNvPr id="10" name="Text 7"/>
          <p:cNvSpPr/>
          <p:nvPr/>
        </p:nvSpPr>
        <p:spPr>
          <a:xfrm>
            <a:off x="3566160" y="1874520"/>
            <a:ext cx="74066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layout mirrors the xaringan .left-column and .right-column classes. Use the sidebar for navigation or framing, and reserve the larger area for the current explanation, chart, or discussion.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566160" y="3840480"/>
            <a:ext cx="7406640" cy="1508760"/>
          </a:xfrm>
          <a:prstGeom prst="roundRect">
            <a:avLst>
              <a:gd name="adj" fmla="val 3636"/>
            </a:avLst>
          </a:prstGeom>
          <a:solidFill>
            <a:srgbClr val="F9DBDB"/>
          </a:solidFill>
          <a:ln w="12700">
            <a:solidFill>
              <a:srgbClr val="F9DB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86200" y="4160520"/>
            <a:ext cx="6812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takeaway or callout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886200" y="4572000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 tinted content box to separate an important conclusion from the main narrative.</a:t>
            </a:r>
            <a:endParaRPr lang="en-US" sz="18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xaringan_ppt_work/beveled_m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610" y="146304"/>
            <a:ext cx="701612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56032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40" b="1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Code + Output Layout</a:t>
            </a:r>
            <a:endParaRPr lang="en-US" sz="3240" dirty="0"/>
          </a:p>
        </p:txBody>
      </p:sp>
      <p:sp>
        <p:nvSpPr>
          <p:cNvPr id="4" name="Shape 1"/>
          <p:cNvSpPr/>
          <p:nvPr/>
        </p:nvSpPr>
        <p:spPr>
          <a:xfrm>
            <a:off x="566928" y="859536"/>
            <a:ext cx="1101852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777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3232" y="11247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60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 code</a:t>
            </a:r>
            <a:endParaRPr lang="en-US" sz="2160" dirty="0"/>
          </a:p>
        </p:txBody>
      </p:sp>
      <p:sp>
        <p:nvSpPr>
          <p:cNvPr id="7" name="Shape 4"/>
          <p:cNvSpPr/>
          <p:nvPr/>
        </p:nvSpPr>
        <p:spPr>
          <a:xfrm>
            <a:off x="685800" y="1508760"/>
            <a:ext cx="5303520" cy="4315968"/>
          </a:xfrm>
          <a:prstGeom prst="roundRect">
            <a:avLst>
              <a:gd name="adj" fmla="val 847"/>
            </a:avLst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810512"/>
            <a:ext cx="4663440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14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day_of_week_tbl |&gt;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C314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ggplot</a:t>
            </a: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(aes(x = n, y = dayofweek)) 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C314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geom_col</a:t>
            </a: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(fill = "#C3142D") 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C314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theme_bw(base_size = 12)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309360" y="11247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60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Output / visualization</a:t>
            </a:r>
            <a:endParaRPr lang="en-US" sz="2160" dirty="0"/>
          </a:p>
        </p:txBody>
      </p:sp>
      <p:sp>
        <p:nvSpPr>
          <p:cNvPr id="10" name="Shape 7"/>
          <p:cNvSpPr/>
          <p:nvPr/>
        </p:nvSpPr>
        <p:spPr>
          <a:xfrm>
            <a:off x="6291072" y="1508760"/>
            <a:ext cx="489204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73952" y="182880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4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</a:t>
            </a:r>
            <a:endParaRPr lang="en-US" sz="1140" dirty="0"/>
          </a:p>
        </p:txBody>
      </p:sp>
      <p:sp>
        <p:nvSpPr>
          <p:cNvPr id="12" name="Shape 9"/>
          <p:cNvSpPr/>
          <p:nvPr/>
        </p:nvSpPr>
        <p:spPr>
          <a:xfrm>
            <a:off x="7150608" y="1847088"/>
            <a:ext cx="1856232" cy="210312"/>
          </a:xfrm>
          <a:prstGeom prst="rect">
            <a:avLst/>
          </a:prstGeom>
          <a:solidFill>
            <a:srgbClr val="C3142D"/>
          </a:solidFill>
          <a:ln w="12700">
            <a:solidFill>
              <a:srgbClr val="C314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73952" y="230428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4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TUES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7150608" y="2322576"/>
            <a:ext cx="2492654" cy="210312"/>
          </a:xfrm>
          <a:prstGeom prst="rect">
            <a:avLst/>
          </a:prstGeom>
          <a:solidFill>
            <a:srgbClr val="C3142D"/>
          </a:solidFill>
          <a:ln w="12700">
            <a:solidFill>
              <a:srgbClr val="C314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73952" y="27797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4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WED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7150608" y="2798064"/>
            <a:ext cx="2731313" cy="210312"/>
          </a:xfrm>
          <a:prstGeom prst="rect">
            <a:avLst/>
          </a:prstGeom>
          <a:solidFill>
            <a:srgbClr val="C3142D"/>
          </a:solidFill>
          <a:ln w="12700">
            <a:solidFill>
              <a:srgbClr val="C3142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73952" y="325526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4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THU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7150608" y="3273552"/>
            <a:ext cx="2863901" cy="210312"/>
          </a:xfrm>
          <a:prstGeom prst="rect">
            <a:avLst/>
          </a:prstGeom>
          <a:solidFill>
            <a:srgbClr val="C3142D"/>
          </a:solidFill>
          <a:ln w="12700">
            <a:solidFill>
              <a:srgbClr val="C3142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73952" y="373075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4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FRI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7150608" y="3749040"/>
            <a:ext cx="3102559" cy="210312"/>
          </a:xfrm>
          <a:prstGeom prst="rect">
            <a:avLst/>
          </a:prstGeom>
          <a:solidFill>
            <a:srgbClr val="C3142D"/>
          </a:solidFill>
          <a:ln w="12700">
            <a:solidFill>
              <a:srgbClr val="C3142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73952" y="420624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4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SAT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7150608" y="4224528"/>
            <a:ext cx="2227478" cy="210312"/>
          </a:xfrm>
          <a:prstGeom prst="rect">
            <a:avLst/>
          </a:prstGeom>
          <a:solidFill>
            <a:srgbClr val="C3142D"/>
          </a:solidFill>
          <a:ln w="12700">
            <a:solidFill>
              <a:srgbClr val="C314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73952" y="46817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4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SUN</a:t>
            </a:r>
            <a:endParaRPr lang="en-US" sz="1140" dirty="0"/>
          </a:p>
        </p:txBody>
      </p:sp>
      <p:sp>
        <p:nvSpPr>
          <p:cNvPr id="24" name="Shape 21"/>
          <p:cNvSpPr/>
          <p:nvPr/>
        </p:nvSpPr>
        <p:spPr>
          <a:xfrm>
            <a:off x="7150608" y="4700016"/>
            <a:ext cx="2015338" cy="210312"/>
          </a:xfrm>
          <a:prstGeom prst="rect">
            <a:avLst/>
          </a:prstGeom>
          <a:solidFill>
            <a:srgbClr val="C3142D"/>
          </a:solidFill>
          <a:ln w="12700">
            <a:solidFill>
              <a:srgbClr val="C3142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80960" y="541324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777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Illustrative output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xaringan_ppt_work/beveled_m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610" y="146304"/>
            <a:ext cx="701612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56032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40" b="1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Activity / Discussion Prompt</a:t>
            </a:r>
            <a:endParaRPr lang="en-US" sz="3240" dirty="0"/>
          </a:p>
        </p:txBody>
      </p:sp>
      <p:sp>
        <p:nvSpPr>
          <p:cNvPr id="4" name="Shape 1"/>
          <p:cNvSpPr/>
          <p:nvPr/>
        </p:nvSpPr>
        <p:spPr>
          <a:xfrm>
            <a:off x="566928" y="859536"/>
            <a:ext cx="1101852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777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2070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NON-GRADED CLASS ACTIVITY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749808" y="1828800"/>
            <a:ext cx="73152" cy="2331720"/>
          </a:xfrm>
          <a:prstGeom prst="rect">
            <a:avLst/>
          </a:prstGeom>
          <a:solidFill>
            <a:srgbClr val="C3142D"/>
          </a:solidFill>
          <a:ln w="12700">
            <a:solidFill>
              <a:srgbClr val="C3142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828800"/>
            <a:ext cx="10332720" cy="2331720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70432" y="2212848"/>
            <a:ext cx="9418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Take four minutes to discuss with your partner.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170432" y="2944368"/>
            <a:ext cx="9418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6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question does this dataset answer?</a:t>
            </a:r>
            <a:endParaRPr lang="en-US" sz="2160" dirty="0"/>
          </a:p>
          <a:p>
            <a:pPr marL="0" indent="0">
              <a:buNone/>
            </a:pPr>
            <a:r>
              <a:rPr lang="en-US" sz="216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is the unit of analysis?</a:t>
            </a:r>
            <a:endParaRPr lang="en-US" sz="2160" dirty="0"/>
          </a:p>
        </p:txBody>
      </p:sp>
      <p:sp>
        <p:nvSpPr>
          <p:cNvPr id="11" name="Shape 8"/>
          <p:cNvSpPr/>
          <p:nvPr/>
        </p:nvSpPr>
        <p:spPr>
          <a:xfrm>
            <a:off x="9509760" y="4800600"/>
            <a:ext cx="1508760" cy="731520"/>
          </a:xfrm>
          <a:prstGeom prst="roundRect">
            <a:avLst>
              <a:gd name="adj" fmla="val 8750"/>
            </a:avLst>
          </a:prstGeom>
          <a:solidFill>
            <a:srgbClr val="C3142D"/>
          </a:solidFill>
          <a:ln w="12700">
            <a:solidFill>
              <a:srgbClr val="C314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0" y="49834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4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04:00</a:t>
            </a:r>
            <a:endParaRPr lang="en-US" sz="26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xaringan_ppt_work/beveled_m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610" y="146304"/>
            <a:ext cx="701612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56032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40" b="1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Content Box Palette</a:t>
            </a:r>
            <a:endParaRPr lang="en-US" sz="3240" dirty="0"/>
          </a:p>
        </p:txBody>
      </p:sp>
      <p:sp>
        <p:nvSpPr>
          <p:cNvPr id="4" name="Shape 1"/>
          <p:cNvSpPr/>
          <p:nvPr/>
        </p:nvSpPr>
        <p:spPr>
          <a:xfrm>
            <a:off x="566928" y="859536"/>
            <a:ext cx="1101852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777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85800" y="123444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" y="1399032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60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BLUE</a:t>
            </a:r>
            <a:endParaRPr lang="en-US" sz="2160" dirty="0"/>
          </a:p>
        </p:txBody>
      </p:sp>
      <p:sp>
        <p:nvSpPr>
          <p:cNvPr id="8" name="Text 5"/>
          <p:cNvSpPr/>
          <p:nvPr/>
        </p:nvSpPr>
        <p:spPr>
          <a:xfrm>
            <a:off x="886968" y="1801368"/>
            <a:ext cx="30723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Neutral information or context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361688" y="123444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E2E2E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62856" y="1399032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60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GRAY</a:t>
            </a:r>
            <a:endParaRPr lang="en-US" sz="2160" dirty="0"/>
          </a:p>
        </p:txBody>
      </p:sp>
      <p:sp>
        <p:nvSpPr>
          <p:cNvPr id="11" name="Text 8"/>
          <p:cNvSpPr/>
          <p:nvPr/>
        </p:nvSpPr>
        <p:spPr>
          <a:xfrm>
            <a:off x="4562856" y="1801368"/>
            <a:ext cx="30723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Definitions or secondary content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0" y="123444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D9EDC2"/>
          </a:solidFill>
          <a:ln w="12700">
            <a:solidFill>
              <a:srgbClr val="D9EDC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47888" y="139903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60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GREEN</a:t>
            </a:r>
            <a:endParaRPr lang="en-US" sz="2160" dirty="0"/>
          </a:p>
        </p:txBody>
      </p:sp>
      <p:sp>
        <p:nvSpPr>
          <p:cNvPr id="14" name="Text 11"/>
          <p:cNvSpPr/>
          <p:nvPr/>
        </p:nvSpPr>
        <p:spPr>
          <a:xfrm>
            <a:off x="8247888" y="1801368"/>
            <a:ext cx="279806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Positive result or recommendation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85800" y="288036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E2E2F9"/>
          </a:solidFill>
          <a:ln w="12700">
            <a:solidFill>
              <a:srgbClr val="E2E2F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6968" y="3044952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60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PURPLE</a:t>
            </a:r>
            <a:endParaRPr lang="en-US" sz="2160" dirty="0"/>
          </a:p>
        </p:txBody>
      </p:sp>
      <p:sp>
        <p:nvSpPr>
          <p:cNvPr id="17" name="Text 14"/>
          <p:cNvSpPr/>
          <p:nvPr/>
        </p:nvSpPr>
        <p:spPr>
          <a:xfrm>
            <a:off x="886968" y="3447288"/>
            <a:ext cx="30723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Alternative or optional content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361688" y="288036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9DBDB"/>
          </a:solidFill>
          <a:ln w="12700">
            <a:solidFill>
              <a:srgbClr val="F9DB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62856" y="3044952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60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RED</a:t>
            </a:r>
            <a:endParaRPr lang="en-US" sz="2160" dirty="0"/>
          </a:p>
        </p:txBody>
      </p:sp>
      <p:sp>
        <p:nvSpPr>
          <p:cNvPr id="20" name="Text 17"/>
          <p:cNvSpPr/>
          <p:nvPr/>
        </p:nvSpPr>
        <p:spPr>
          <a:xfrm>
            <a:off x="4562856" y="3447288"/>
            <a:ext cx="30723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Risk, warning, or key point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046720" y="288036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EF5C4"/>
          </a:solidFill>
          <a:ln w="12700">
            <a:solidFill>
              <a:srgbClr val="FEF5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47888" y="304495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60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YELLOW</a:t>
            </a:r>
            <a:endParaRPr lang="en-US" sz="2160" dirty="0"/>
          </a:p>
        </p:txBody>
      </p:sp>
      <p:sp>
        <p:nvSpPr>
          <p:cNvPr id="23" name="Text 20"/>
          <p:cNvSpPr/>
          <p:nvPr/>
        </p:nvSpPr>
        <p:spPr>
          <a:xfrm>
            <a:off x="8247888" y="3447288"/>
            <a:ext cx="279806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Prompt, note, or action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417320" y="5166360"/>
            <a:ext cx="900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4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fills soft and reserve Miami red for headings and emphasis.</a:t>
            </a:r>
            <a:endParaRPr lang="en-US" sz="20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xaringan_ppt_work/beveled_m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610" y="146304"/>
            <a:ext cx="701612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56032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40" b="1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Table Layout</a:t>
            </a:r>
            <a:endParaRPr lang="en-US" sz="3240" dirty="0"/>
          </a:p>
        </p:txBody>
      </p:sp>
      <p:sp>
        <p:nvSpPr>
          <p:cNvPr id="4" name="Shape 1"/>
          <p:cNvSpPr/>
          <p:nvPr/>
        </p:nvSpPr>
        <p:spPr>
          <a:xfrm>
            <a:off x="566928" y="859536"/>
            <a:ext cx="1101852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777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22960" y="1417320"/>
            <a:ext cx="2103120" cy="621792"/>
          </a:xfrm>
          <a:prstGeom prst="rect">
            <a:avLst/>
          </a:prstGeom>
          <a:solidFill>
            <a:srgbClr val="C3142D"/>
          </a:solidFill>
          <a:ln w="9525">
            <a:solidFill>
              <a:srgbClr val="B8B8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5179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Stage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926080" y="1417320"/>
            <a:ext cx="3840480" cy="621792"/>
          </a:xfrm>
          <a:prstGeom prst="rect">
            <a:avLst/>
          </a:prstGeom>
          <a:solidFill>
            <a:srgbClr val="C3142D"/>
          </a:solidFill>
          <a:ln w="9525">
            <a:solidFill>
              <a:srgbClr val="B8B8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17520" y="15179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Purpose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766560" y="1417320"/>
            <a:ext cx="4343400" cy="621792"/>
          </a:xfrm>
          <a:prstGeom prst="rect">
            <a:avLst/>
          </a:prstGeom>
          <a:solidFill>
            <a:srgbClr val="C3142D"/>
          </a:solidFill>
          <a:ln w="9525">
            <a:solidFill>
              <a:srgbClr val="B8B8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0" y="151790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2960" y="2039112"/>
            <a:ext cx="21031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1396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Pre-analytics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2926080" y="2039112"/>
            <a:ext cx="3840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21396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 and prepare data</a:t>
            </a:r>
            <a:endParaRPr lang="en-US" sz="1420" dirty="0"/>
          </a:p>
        </p:txBody>
      </p:sp>
      <p:sp>
        <p:nvSpPr>
          <p:cNvPr id="16" name="Shape 13"/>
          <p:cNvSpPr/>
          <p:nvPr/>
        </p:nvSpPr>
        <p:spPr>
          <a:xfrm>
            <a:off x="6766560" y="2039112"/>
            <a:ext cx="43434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213969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ingestion and cleaning</a:t>
            </a:r>
            <a:endParaRPr lang="en-US" sz="1420" dirty="0"/>
          </a:p>
        </p:txBody>
      </p:sp>
      <p:sp>
        <p:nvSpPr>
          <p:cNvPr id="18" name="Shape 15"/>
          <p:cNvSpPr/>
          <p:nvPr/>
        </p:nvSpPr>
        <p:spPr>
          <a:xfrm>
            <a:off x="822960" y="2660904"/>
            <a:ext cx="2103120" cy="621792"/>
          </a:xfrm>
          <a:prstGeom prst="rect">
            <a:avLst/>
          </a:prstGeom>
          <a:solidFill>
            <a:srgbClr val="EEEEEE"/>
          </a:solidFill>
          <a:ln w="9525">
            <a:solidFill>
              <a:srgbClr val="B8B8B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27614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Descriptive</a:t>
            </a:r>
            <a:endParaRPr lang="en-US" sz="1420" dirty="0"/>
          </a:p>
        </p:txBody>
      </p:sp>
      <p:sp>
        <p:nvSpPr>
          <p:cNvPr id="20" name="Shape 17"/>
          <p:cNvSpPr/>
          <p:nvPr/>
        </p:nvSpPr>
        <p:spPr>
          <a:xfrm>
            <a:off x="2926080" y="2660904"/>
            <a:ext cx="3840480" cy="621792"/>
          </a:xfrm>
          <a:prstGeom prst="rect">
            <a:avLst/>
          </a:prstGeom>
          <a:solidFill>
            <a:srgbClr val="EEEEEE"/>
          </a:solidFill>
          <a:ln w="9525">
            <a:solidFill>
              <a:srgbClr val="B8B8B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2761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what happened</a:t>
            </a:r>
            <a:endParaRPr lang="en-US" sz="1420" dirty="0"/>
          </a:p>
        </p:txBody>
      </p:sp>
      <p:sp>
        <p:nvSpPr>
          <p:cNvPr id="22" name="Shape 19"/>
          <p:cNvSpPr/>
          <p:nvPr/>
        </p:nvSpPr>
        <p:spPr>
          <a:xfrm>
            <a:off x="6766560" y="2660904"/>
            <a:ext cx="4343400" cy="621792"/>
          </a:xfrm>
          <a:prstGeom prst="rect">
            <a:avLst/>
          </a:prstGeom>
          <a:solidFill>
            <a:srgbClr val="EEEEEE"/>
          </a:solidFill>
          <a:ln w="9525">
            <a:solidFill>
              <a:srgbClr val="B8B8B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0" y="27614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Summary statistics and charts</a:t>
            </a:r>
            <a:endParaRPr lang="en-US" sz="1420" dirty="0"/>
          </a:p>
        </p:txBody>
      </p:sp>
      <p:sp>
        <p:nvSpPr>
          <p:cNvPr id="24" name="Shape 21"/>
          <p:cNvSpPr/>
          <p:nvPr/>
        </p:nvSpPr>
        <p:spPr>
          <a:xfrm>
            <a:off x="822960" y="3282696"/>
            <a:ext cx="21031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Predictive</a:t>
            </a:r>
            <a:endParaRPr lang="en-US" sz="1420" dirty="0"/>
          </a:p>
        </p:txBody>
      </p:sp>
      <p:sp>
        <p:nvSpPr>
          <p:cNvPr id="26" name="Shape 23"/>
          <p:cNvSpPr/>
          <p:nvPr/>
        </p:nvSpPr>
        <p:spPr>
          <a:xfrm>
            <a:off x="2926080" y="3282696"/>
            <a:ext cx="3840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01752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Estimate what may happen</a:t>
            </a:r>
            <a:endParaRPr lang="en-US" sz="1420" dirty="0"/>
          </a:p>
        </p:txBody>
      </p:sp>
      <p:sp>
        <p:nvSpPr>
          <p:cNvPr id="28" name="Shape 25"/>
          <p:cNvSpPr/>
          <p:nvPr/>
        </p:nvSpPr>
        <p:spPr>
          <a:xfrm>
            <a:off x="6766560" y="3282696"/>
            <a:ext cx="43434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58000" y="3383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Forecasting and classification</a:t>
            </a:r>
            <a:endParaRPr lang="en-US" sz="1420" dirty="0"/>
          </a:p>
        </p:txBody>
      </p:sp>
      <p:sp>
        <p:nvSpPr>
          <p:cNvPr id="30" name="Shape 27"/>
          <p:cNvSpPr/>
          <p:nvPr/>
        </p:nvSpPr>
        <p:spPr>
          <a:xfrm>
            <a:off x="822960" y="3904488"/>
            <a:ext cx="2103120" cy="621792"/>
          </a:xfrm>
          <a:prstGeom prst="rect">
            <a:avLst/>
          </a:prstGeom>
          <a:solidFill>
            <a:srgbClr val="EEEEEE"/>
          </a:solidFill>
          <a:ln w="9525">
            <a:solidFill>
              <a:srgbClr val="B8B8B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14400" y="4005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Prescriptive</a:t>
            </a:r>
            <a:endParaRPr lang="en-US" sz="1420" dirty="0"/>
          </a:p>
        </p:txBody>
      </p:sp>
      <p:sp>
        <p:nvSpPr>
          <p:cNvPr id="32" name="Shape 29"/>
          <p:cNvSpPr/>
          <p:nvPr/>
        </p:nvSpPr>
        <p:spPr>
          <a:xfrm>
            <a:off x="2926080" y="3904488"/>
            <a:ext cx="3840480" cy="621792"/>
          </a:xfrm>
          <a:prstGeom prst="rect">
            <a:avLst/>
          </a:prstGeom>
          <a:solidFill>
            <a:srgbClr val="EEEEEE"/>
          </a:solidFill>
          <a:ln w="9525">
            <a:solidFill>
              <a:srgbClr val="B8B8B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017520" y="4005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 an action</a:t>
            </a:r>
            <a:endParaRPr lang="en-US" sz="1420" dirty="0"/>
          </a:p>
        </p:txBody>
      </p:sp>
      <p:sp>
        <p:nvSpPr>
          <p:cNvPr id="34" name="Shape 31"/>
          <p:cNvSpPr/>
          <p:nvPr/>
        </p:nvSpPr>
        <p:spPr>
          <a:xfrm>
            <a:off x="6766560" y="3904488"/>
            <a:ext cx="4343400" cy="621792"/>
          </a:xfrm>
          <a:prstGeom prst="rect">
            <a:avLst/>
          </a:prstGeom>
          <a:solidFill>
            <a:srgbClr val="EEEEEE"/>
          </a:solidFill>
          <a:ln w="9525">
            <a:solidFill>
              <a:srgbClr val="B8B8B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58000" y="40050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Optimization and decision rules</a:t>
            </a:r>
            <a:endParaRPr lang="en-US" sz="1420" dirty="0"/>
          </a:p>
        </p:txBody>
      </p:sp>
      <p:sp>
        <p:nvSpPr>
          <p:cNvPr id="36" name="Shape 33"/>
          <p:cNvSpPr/>
          <p:nvPr/>
        </p:nvSpPr>
        <p:spPr>
          <a:xfrm>
            <a:off x="621792" y="6172200"/>
            <a:ext cx="10789920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1792" y="624535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7777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alternating light-gray rows and minimal borders, matching the xaringan table treatment.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xaringan_ppt_work/beveled_m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610" y="146304"/>
            <a:ext cx="701612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56032"/>
            <a:ext cx="10012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40" b="1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Template Style Guide</a:t>
            </a:r>
            <a:endParaRPr lang="en-US" sz="3240" dirty="0"/>
          </a:p>
        </p:txBody>
      </p:sp>
      <p:sp>
        <p:nvSpPr>
          <p:cNvPr id="4" name="Shape 1"/>
          <p:cNvSpPr/>
          <p:nvPr/>
        </p:nvSpPr>
        <p:spPr>
          <a:xfrm>
            <a:off x="566928" y="859536"/>
            <a:ext cx="1101852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777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12070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80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TYPOGRAPHY</a:t>
            </a:r>
            <a:endParaRPr lang="en-US" sz="2280" dirty="0"/>
          </a:p>
        </p:txBody>
      </p:sp>
      <p:sp>
        <p:nvSpPr>
          <p:cNvPr id="7" name="Text 4"/>
          <p:cNvSpPr/>
          <p:nvPr/>
        </p:nvSpPr>
        <p:spPr>
          <a:xfrm>
            <a:off x="685800" y="175564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585E6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Roboto Condensed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585E6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Headings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85800" y="2761488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Roboto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Body copy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85800" y="37033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20" dirty="0">
                <a:solidFill>
                  <a:srgbClr val="C314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Courier New</a:t>
            </a:r>
            <a:endParaRPr lang="en-US" sz="1920" dirty="0"/>
          </a:p>
          <a:p>
            <a:pPr marL="0" indent="0">
              <a:buNone/>
            </a:pPr>
            <a:r>
              <a:rPr lang="en-US" sz="1920" dirty="0">
                <a:solidFill>
                  <a:srgbClr val="C314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fallback</a:t>
            </a:r>
            <a:endParaRPr lang="en-US" sz="1920" dirty="0"/>
          </a:p>
        </p:txBody>
      </p:sp>
      <p:sp>
        <p:nvSpPr>
          <p:cNvPr id="10" name="Text 7"/>
          <p:cNvSpPr/>
          <p:nvPr/>
        </p:nvSpPr>
        <p:spPr>
          <a:xfrm>
            <a:off x="4160520" y="12070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80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COLOR PALETTE</a:t>
            </a:r>
            <a:endParaRPr lang="en-US" sz="2280" dirty="0"/>
          </a:p>
        </p:txBody>
      </p:sp>
      <p:sp>
        <p:nvSpPr>
          <p:cNvPr id="11" name="Shape 8"/>
          <p:cNvSpPr/>
          <p:nvPr/>
        </p:nvSpPr>
        <p:spPr>
          <a:xfrm>
            <a:off x="4160520" y="1755648"/>
            <a:ext cx="548640" cy="548640"/>
          </a:xfrm>
          <a:prstGeom prst="rect">
            <a:avLst/>
          </a:prstGeom>
          <a:solidFill>
            <a:srgbClr val="C3142D"/>
          </a:solidFill>
          <a:ln w="12700">
            <a:solidFill>
              <a:srgbClr val="C314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73736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#C3142D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Miami red</a:t>
            </a:r>
            <a:endParaRPr lang="en-US" sz="1380" dirty="0"/>
          </a:p>
        </p:txBody>
      </p:sp>
      <p:sp>
        <p:nvSpPr>
          <p:cNvPr id="13" name="Shape 10"/>
          <p:cNvSpPr/>
          <p:nvPr/>
        </p:nvSpPr>
        <p:spPr>
          <a:xfrm>
            <a:off x="6583680" y="1755648"/>
            <a:ext cx="548640" cy="548640"/>
          </a:xfrm>
          <a:prstGeom prst="rect">
            <a:avLst/>
          </a:prstGeom>
          <a:solidFill>
            <a:srgbClr val="585E60"/>
          </a:solidFill>
          <a:ln w="12700">
            <a:solidFill>
              <a:srgbClr val="585E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69480" y="173736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#585E60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Charcoal</a:t>
            </a:r>
            <a:endParaRPr lang="en-US" sz="1380" dirty="0"/>
          </a:p>
        </p:txBody>
      </p:sp>
      <p:sp>
        <p:nvSpPr>
          <p:cNvPr id="15" name="Shape 12"/>
          <p:cNvSpPr/>
          <p:nvPr/>
        </p:nvSpPr>
        <p:spPr>
          <a:xfrm>
            <a:off x="4160520" y="2743200"/>
            <a:ext cx="548640" cy="548640"/>
          </a:xfrm>
          <a:prstGeom prst="rect">
            <a:avLst/>
          </a:prstGeom>
          <a:solidFill>
            <a:srgbClr val="84D6D3"/>
          </a:solidFill>
          <a:ln w="12700">
            <a:solidFill>
              <a:srgbClr val="84D6D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2724912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#84D6D3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Teal link</a:t>
            </a:r>
            <a:endParaRPr lang="en-US" sz="1380" dirty="0"/>
          </a:p>
        </p:txBody>
      </p:sp>
      <p:sp>
        <p:nvSpPr>
          <p:cNvPr id="17" name="Shape 14"/>
          <p:cNvSpPr/>
          <p:nvPr/>
        </p:nvSpPr>
        <p:spPr>
          <a:xfrm>
            <a:off x="6583680" y="2743200"/>
            <a:ext cx="548640" cy="548640"/>
          </a:xfrm>
          <a:prstGeom prst="rect">
            <a:avLst/>
          </a:prstGeom>
          <a:solidFill>
            <a:srgbClr val="EE5863"/>
          </a:solidFill>
          <a:ln w="12700">
            <a:solidFill>
              <a:srgbClr val="EE586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69480" y="2724912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#EE5863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Coral accent</a:t>
            </a:r>
            <a:endParaRPr lang="en-US" sz="1380" dirty="0"/>
          </a:p>
        </p:txBody>
      </p:sp>
      <p:sp>
        <p:nvSpPr>
          <p:cNvPr id="19" name="Shape 16"/>
          <p:cNvSpPr/>
          <p:nvPr/>
        </p:nvSpPr>
        <p:spPr>
          <a:xfrm>
            <a:off x="4160520" y="3730752"/>
            <a:ext cx="548640" cy="548640"/>
          </a:xfrm>
          <a:prstGeom prst="rect">
            <a:avLst/>
          </a:prstGeom>
          <a:solidFill>
            <a:srgbClr val="FF7436"/>
          </a:solidFill>
          <a:ln w="12700">
            <a:solidFill>
              <a:srgbClr val="FF743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371246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#FF7436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Orange accent</a:t>
            </a:r>
            <a:endParaRPr lang="en-US" sz="1380" dirty="0"/>
          </a:p>
        </p:txBody>
      </p:sp>
      <p:sp>
        <p:nvSpPr>
          <p:cNvPr id="21" name="Shape 18"/>
          <p:cNvSpPr/>
          <p:nvPr/>
        </p:nvSpPr>
        <p:spPr>
          <a:xfrm>
            <a:off x="6583680" y="3730752"/>
            <a:ext cx="548640" cy="548640"/>
          </a:xfrm>
          <a:prstGeom prst="rect">
            <a:avLst/>
          </a:prstGeom>
          <a:solidFill>
            <a:srgbClr val="FFDF65"/>
          </a:solidFill>
          <a:ln w="12700">
            <a:solidFill>
              <a:srgbClr val="FFDF6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69480" y="371246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#FFDF65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Highlight</a:t>
            </a:r>
            <a:endParaRPr lang="en-US" sz="1380" dirty="0"/>
          </a:p>
        </p:txBody>
      </p:sp>
      <p:sp>
        <p:nvSpPr>
          <p:cNvPr id="23" name="Text 20"/>
          <p:cNvSpPr/>
          <p:nvPr/>
        </p:nvSpPr>
        <p:spPr>
          <a:xfrm>
            <a:off x="8887968" y="1207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80" dirty="0">
                <a:solidFill>
                  <a:srgbClr val="C314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USAGE NOTES</a:t>
            </a:r>
            <a:endParaRPr lang="en-US" sz="2280" dirty="0"/>
          </a:p>
        </p:txBody>
      </p:sp>
      <p:sp>
        <p:nvSpPr>
          <p:cNvPr id="24" name="Text 21"/>
          <p:cNvSpPr/>
          <p:nvPr/>
        </p:nvSpPr>
        <p:spPr>
          <a:xfrm>
            <a:off x="8887968" y="1755648"/>
            <a:ext cx="2286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Use 16:9 widescreen</a:t>
            </a:r>
            <a:endParaRPr lang="en-US" sz="1660" dirty="0"/>
          </a:p>
          <a:p>
            <a:pPr marL="0" indent="0">
              <a:buNone/>
            </a:pPr>
            <a:endParaRPr lang="en-US" sz="1660" dirty="0"/>
          </a:p>
          <a:p>
            <a:pPr marL="0" indent="0">
              <a:buNone/>
            </a:pPr>
            <a:r>
              <a:rPr lang="en-US" sz="166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Keep titles left-aligned</a:t>
            </a:r>
            <a:endParaRPr lang="en-US" sz="1660" dirty="0"/>
          </a:p>
          <a:p>
            <a:pPr marL="0" indent="0">
              <a:buNone/>
            </a:pPr>
            <a:endParaRPr lang="en-US" sz="1660" dirty="0"/>
          </a:p>
          <a:p>
            <a:pPr marL="0" indent="0">
              <a:buNone/>
            </a:pPr>
            <a:r>
              <a:rPr lang="en-US" sz="166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Use red bullets and bold emphasis</a:t>
            </a:r>
            <a:endParaRPr lang="en-US" sz="1660" dirty="0"/>
          </a:p>
          <a:p>
            <a:pPr marL="0" indent="0">
              <a:buNone/>
            </a:pPr>
            <a:endParaRPr lang="en-US" sz="1660" dirty="0"/>
          </a:p>
          <a:p>
            <a:pPr marL="0" indent="0">
              <a:buNone/>
            </a:pPr>
            <a:r>
              <a:rPr lang="en-US" sz="166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Use teal for hyperlinks only</a:t>
            </a:r>
            <a:endParaRPr lang="en-US" sz="1660" dirty="0"/>
          </a:p>
          <a:p>
            <a:pPr marL="0" indent="0">
              <a:buNone/>
            </a:pPr>
            <a:endParaRPr lang="en-US" sz="1660" dirty="0"/>
          </a:p>
          <a:p>
            <a:pPr marL="0" indent="0">
              <a:buNone/>
            </a:pPr>
            <a:r>
              <a:rPr lang="en-US" sz="166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Use bold text on title and section-divider slides</a:t>
            </a:r>
            <a:endParaRPr lang="en-US" sz="1660" dirty="0"/>
          </a:p>
          <a:p>
            <a:pPr marL="0" indent="0">
              <a:buNone/>
            </a:pPr>
            <a:endParaRPr lang="en-US" sz="1660" dirty="0"/>
          </a:p>
          <a:p>
            <a:pPr marL="0" indent="0">
              <a:buNone/>
            </a:pPr>
            <a:r>
              <a:rPr lang="en-US" sz="1660" dirty="0">
                <a:solidFill>
                  <a:srgbClr val="585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Use the beveled M on white slides</a:t>
            </a:r>
            <a:endParaRPr lang="en-US" sz="16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520</Words>
  <Application>Microsoft Office PowerPoint</Application>
  <PresentationFormat>Widescreen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Consolas</vt:lpstr>
      <vt:lpstr>Courier New</vt:lpstr>
      <vt:lpstr>Roboto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Miami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Miami University xaringan-style PowerPoint Template (Updated)</dc:title>
  <dc:subject>Reusable PowerPoint template derived from xaringan CSS</dc:subject>
  <dc:creator>OpenAI</dc:creator>
  <cp:lastModifiedBy>Megahed, Fadel M</cp:lastModifiedBy>
  <cp:revision>2</cp:revision>
  <dcterms:created xsi:type="dcterms:W3CDTF">2026-07-25T13:53:11Z</dcterms:created>
  <dcterms:modified xsi:type="dcterms:W3CDTF">2026-07-25T13:58:41Z</dcterms:modified>
</cp:coreProperties>
</file>